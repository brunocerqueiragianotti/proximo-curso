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eO+5w9AbeNn/3hPZmna5W+Ii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72E94C-D3DA-46E2-B1E7-A9C24A9BCD2E}">
  <a:tblStyle styleId="{E872E94C-D3DA-46E2-B1E7-A9C24A9BCD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1F2937"/>
                </a:solidFill>
                <a:latin typeface="Calibri"/>
              </a:rPr>
              <a:t>Precision@5 (%) para cada valor de α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 (%)</c:v>
                </c:pt>
              </c:strCache>
            </c:strRef>
          </c:tx>
          <c:spPr>
            <a:ln w="38100" cap="flat">
              <a:solidFill>
                <a:srgbClr val="2F5D9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F5D9E"/>
              </a:solidFill>
              <a:ln w="9525" cap="flat">
                <a:solidFill>
                  <a:srgbClr val="2F5D9E"/>
                </a:solidFill>
                <a:prstDash val="solid"/>
                <a:round/>
              </a:ln>
              <a:effectLst/>
            </c:spPr>
          </c:marker>
          <c:dLbls>
            <c:dLbl>
              <c:idx val="3"/>
              <c:numFmt formatCode="0.0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200" b="1">
                      <a:solidFill>
                        <a:srgbClr val="9A5B13"/>
                      </a:solidFill>
                      <a:latin typeface="Calibri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0,0</c:v>
                </c:pt>
                <c:pt idx="1">
                  <c:v>0,1</c:v>
                </c:pt>
                <c:pt idx="2">
                  <c:v>0,2</c:v>
                </c:pt>
                <c:pt idx="3">
                  <c:v>0,3</c:v>
                </c:pt>
                <c:pt idx="4">
                  <c:v>0,4</c:v>
                </c:pt>
                <c:pt idx="5">
                  <c:v>0,5</c:v>
                </c:pt>
                <c:pt idx="6">
                  <c:v>0,6</c:v>
                </c:pt>
                <c:pt idx="7">
                  <c:v>0,7</c:v>
                </c:pt>
                <c:pt idx="8">
                  <c:v>0,8</c:v>
                </c:pt>
                <c:pt idx="9">
                  <c:v>0,9</c:v>
                </c:pt>
                <c:pt idx="10">
                  <c:v>1,0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3.83</c:v>
                </c:pt>
                <c:pt idx="1">
                  <c:v>4.53</c:v>
                </c:pt>
                <c:pt idx="2">
                  <c:v>5.1100000000000003</c:v>
                </c:pt>
                <c:pt idx="3">
                  <c:v>5.28</c:v>
                </c:pt>
                <c:pt idx="4">
                  <c:v>5.21</c:v>
                </c:pt>
                <c:pt idx="5">
                  <c:v>5.09</c:v>
                </c:pt>
                <c:pt idx="6">
                  <c:v>4.8899999999999997</c:v>
                </c:pt>
                <c:pt idx="7">
                  <c:v>4.88</c:v>
                </c:pt>
                <c:pt idx="8">
                  <c:v>4.7300000000000004</c:v>
                </c:pt>
                <c:pt idx="9">
                  <c:v>4.6399999999999997</c:v>
                </c:pt>
                <c:pt idx="10">
                  <c:v>4.55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58-41A4-A401-B313C9CF4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000000"/>
                    </a:solidFill>
                    <a:latin typeface="Arial"/>
                  </a:rPr>
                  <a:t>α (0 = só conteúdo, 1 = só colaborativo)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  <c:min val="3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s. Olá, professora. Somos o Bruno, o Reginaldo e a Samya. O nosso projeto é um sistema de recomendação de cursos online, para ajudar o aluno a escolher o próximo curso, alinhado aos ODS 4 e 8. Usamos a base de dados da Coursera, com 623 cursos e 1,45 milhão de avaliações, que viram cerca de 520 mil depois da limpeza. Essa base trouxe três desafios: 64% das avaliações estavam duplicadas, não existe ID de usuário, só o nome digitado, e os cursos não têm descrição. Por isso usamos o texto das próprias avaliações para descrever cada curso.</a:t>
            </a:r>
            <a:endParaRPr/>
          </a:p>
        </p:txBody>
      </p:sp>
      <p:sp>
        <p:nvSpPr>
          <p:cNvPr id="61" name="Google Shape;6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 s. Na Etapa 2 construímos três modelos: o baseado em conteúdo, o colaborativo e um híbrido que combina os dois. Comparamos todos com um baseline de popularidade. Na métrica Precision@5, o baseline teve 0,04%, o baseado em conteúdo 3,0%, o colaborativo 4,3% e o híbrido 4,4%. Os resultados pareciam bons, mas, ao revisar o experimento para esta etapa, encontramos problemas na forma como estávamos medindo. É isso que mostramos a seguir.</a:t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min 10 s. Fizemos cinco ajustes. Primeiro, um vazamento de dados: o perfil textual dos cursos usava reviews do teste. Passamos a usar só o treino. O número quase não mudou, 3,02% para 3,07%, mas o procedimento agora está correto. Segundo, o baseline: ele ordenava os cursos pela nota média, e quase todos têm nota parecida, por isso marcava 0,05%. Trocamos pelo número de avaliações, que é a popularidade de verdade, e ele subiu para 2,3%. Terceiro e quarto: todos os modelos passaram a usar os mesmos 1.500 usuários, e o híbrido agora normaliza os scores depois de tirar os cursos já feitos. Isso deixa a comparação justa, mas quase não muda os números. Quinto, o peso alfa do híbrido: testamos de 0 a 1. O alfa de 0,6 dava 4,89%, e o de 0,3 deu 5,28%. Ou seja, só o ajuste do alfa melhorou o desempenho. Os outros quatro tornaram o experimento mais rigoroso.</a:t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min. Com tudo corrigido, reavaliamos. O baseline de popularidade chegou a 2,3% de Precision@5 e 8,7% de Recall@5. O baseado em conteúdo teve 3,8% e 17,7%. O colaborativo, 4,5% e 20,6%. E o híbrido com alfa 0,3 teve 5,3% e 23,6%. Em resumo: o híbrido acerta 2,3 vezes mais que recomendar os cursos mais populares, e encontra 2,7 vezes mais cursos relevantes. O gráfico mostra a precisão para cada alfa: alfa 0 é só conteúdo, alfa 1 é só colaborativo, e a combinação dos dois supera cada um sozinho, com o melhor ponto em 0,3. Os dois modelos superam o baseline de popularidade, mas o ganho é mais modesto do que parecia na Etapa 2. Cuidado: não dizer 'significativamente' melhor. Se perguntarem por que o colaborativo subiu de 4,3% para 4,5%: a amostra de usuários mudou, não o modelo.</a:t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 s. Este é o pipeline completo. Começamos com os dados e a análise exploratória. Depois vem a limpeza, que reduz a base de 1,45 milhão para cerca de 520 mil avaliações, e a divisão em treino e teste, 80% e 20% por usuário, separada por data. Assim simulamos prever o futuro a partir do passado. O treino alimenta dois modelos: o baseado em conteúdo, com TF-IDF e similaridade de cosseno, e o colaborativo, com KNN item a item e 10 vizinhos. O híbrido combina os dois com o peso alfa. A avaliação usa Precision@5 e Recall@5 e compara com o baseline. No quadro laranja estão os ajustes que acabamos de apresentar.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s. Reconhecemos três limitações. O alfa foi escolhido no próprio conjunto de teste, e vamos refazer isso com uma validação separada. Não testamos a significância estatística entre os modelos. E, sem ID de usuário, nomes iguais podem se misturar. Como próximos passos, vamos testar n-gramas no TF-IDF, mais vizinhos no KNN e incluir a métrica NDCG. E vamos levar o modelo ajustado ao site Próximo Curso, que já funciona como protótipo para a comunidade: a pessoa responde cinco perguntas e recebe recomendações na hora. Obrigado.</a:t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d5d2156ea77da96_0_6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hd5d2156ea77da96_0_6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hd5d2156ea77da96_0_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d5d2156ea77da96_0_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hd5d2156ea77da96_0_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d5d2156ea77da96_0_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hd5d2156ea77da96_0_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hd5d2156ea77da96_0_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hd5d2156ea77da96_0_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hd5d2156ea77da96_0_7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hd5d2156ea77da96_0_7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hd5d2156ea77da96_0_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hd5d2156ea77da96_0_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hd5d2156ea77da96_0_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d5d2156ea77da96_0_8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hd5d2156ea77da96_0_8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hd5d2156ea77da96_0_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d5d2156ea77da96_0_8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hd5d2156ea77da96_0_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hd5d2156ea77da96_0_8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hd5d2156ea77da96_0_8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hd5d2156ea77da96_0_8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hd5d2156ea77da96_0_8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hd5d2156ea77da96_0_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hd5d2156ea77da96_0_9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hd5d2156ea77da96_0_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hd5d2156ea77da96_0_9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hd5d2156ea77da96_0_9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hd5d2156ea77da96_0_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d5d2156ea77da96_0_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hd5d2156ea77da96_0_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" name="Google Shape;9;hd5d2156ea77da96_0_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" name="Google Shape;10;hd5d2156ea77da96_0_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9E"/>
          </a:solidFill>
          <a:ln cap="flat" cmpd="sng" w="12700">
            <a:solidFill>
              <a:srgbClr val="2F5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Recomendação de cursos online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Projeto Aplicado III · Etapa 3 · Bruno Gianotti, Reginaldo de Campos e Samya Silva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9E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F5D9E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Ajudar o aluno a escolher o próximo curso (ODS 4 e 8)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2F5D9E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F5D9E"/>
                </a:solidFill>
                <a:latin typeface="Calibri"/>
                <a:ea typeface="Calibri"/>
                <a:cs typeface="Calibri"/>
                <a:sym typeface="Calibri"/>
              </a:rPr>
              <a:t>Base de dados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Coursera (Kaggle): 623 cursos e 1,45 milhão de avaliações (cerca de 520 mil após a limpeza)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2F5D9E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F5D9E"/>
                </a:solidFill>
                <a:latin typeface="Calibri"/>
                <a:ea typeface="Calibri"/>
                <a:cs typeface="Calibri"/>
                <a:sym typeface="Calibri"/>
              </a:rPr>
              <a:t>Desafios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64% de avaliações duplicadas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ID de usuário (só o nome digitado)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descrição dos cursos (usamos o texto das reviews)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9E"/>
          </a:solidFill>
          <a:ln cap="flat" cmpd="sng" w="12700">
            <a:solidFill>
              <a:srgbClr val="2F5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Resultados preliminares (Etapa 2)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Precision@5 dos modelos construídos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" name="Google Shape;75;p2"/>
          <p:cNvGraphicFramePr/>
          <p:nvPr/>
        </p:nvGraphicFramePr>
        <p:xfrm>
          <a:off x="13716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{E872E94C-D3DA-46E2-B1E7-A9C24A9BCD2E}</a:tableStyleId>
              </a:tblPr>
              <a:tblGrid>
                <a:gridCol w="4206250"/>
                <a:gridCol w="21945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Precision@5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9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Popularidade (baseline)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0,04%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Content-Based (TF-IDF)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Colaborativo (KNN)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Híbrido (α = 0,6)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4,4%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2"/>
          <p:cNvSpPr/>
          <p:nvPr/>
        </p:nvSpPr>
        <p:spPr>
          <a:xfrm>
            <a:off x="1371600" y="4023360"/>
            <a:ext cx="6400800" cy="685800"/>
          </a:xfrm>
          <a:prstGeom prst="roundRect">
            <a:avLst>
              <a:gd fmla="val 10667" name="adj"/>
            </a:avLst>
          </a:prstGeom>
          <a:solidFill>
            <a:srgbClr val="FFF1DC"/>
          </a:solidFill>
          <a:ln cap="flat" cmpd="sng" w="19050">
            <a:solidFill>
              <a:srgbClr val="D982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1463040" y="4023360"/>
            <a:ext cx="6217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Funcionou, mas revisamos o experimento e encontramos problemas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9E"/>
          </a:solidFill>
          <a:ln cap="flat" cmpd="sng" w="12700">
            <a:solidFill>
              <a:srgbClr val="2F5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Ajustes no pipeline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que mudou e como influenciou o desempenho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" name="Google Shape;86;p3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{E872E94C-D3DA-46E2-B1E7-A9C24A9BCD2E}</a:tableStyleId>
              </a:tblPr>
              <a:tblGrid>
                <a:gridCol w="4572000"/>
                <a:gridCol w="1828800"/>
                <a:gridCol w="18288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Depois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9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 textual só com o treino (sem vazamento)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CB 3,02%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3,07% (sem efeito)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por nº de avaliações (e não nota média)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0,05%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Mesmos 1.500 usuários em todos os modelos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1.500 vs 1.468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1.500 em todos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Normalização do híbrido após remover cursos já feitos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4,92%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4,89% (sem efeito)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 α do híbrido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α 0,6: 4,89%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22B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982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α 0,3: 5,28%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" name="Google Shape;87;p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Só o ajuste do α melhorou o desempenho. Os demais corrigem o rigor do experimento.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9E"/>
          </a:solidFill>
          <a:ln cap="flat" cmpd="sng" w="12700">
            <a:solidFill>
              <a:srgbClr val="2F5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Desempenho reavaliado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Precision@5 e Recall@5 em 1.500 usuários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4"/>
          <p:cNvGraphicFramePr/>
          <p:nvPr/>
        </p:nvGraphicFramePr>
        <p:xfrm>
          <a:off x="36576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{E872E94C-D3DA-46E2-B1E7-A9C24A9BCD2E}</a:tableStyleId>
              </a:tblPr>
              <a:tblGrid>
                <a:gridCol w="1828800"/>
                <a:gridCol w="914400"/>
                <a:gridCol w="10972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Prec.@5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D9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Pop. por contagem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8,7%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Content-Based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3,8%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17,7%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Colaborativo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4,5%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20,6%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Híbrido (α = 0,3)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5,3%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23,6%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" name="Google Shape;97;p4"/>
          <p:cNvGraphicFramePr/>
          <p:nvPr/>
        </p:nvGraphicFramePr>
        <p:xfrm>
          <a:off x="4389120" y="1234440"/>
          <a:ext cx="4480560" cy="3291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98" name="Google Shape;98;p4"/>
          <p:cNvSpPr txBox="1"/>
          <p:nvPr/>
        </p:nvSpPr>
        <p:spPr>
          <a:xfrm>
            <a:off x="365760" y="41148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13"/>
              </a:buClr>
              <a:buSzPts val="1400"/>
              <a:buFont typeface="Calibri"/>
              <a:buNone/>
            </a:pPr>
            <a:r>
              <a:rPr b="1" lang="pt-BR" sz="1400">
                <a:solidFill>
                  <a:srgbClr val="9A5B13"/>
                </a:solidFill>
                <a:latin typeface="Calibri"/>
                <a:ea typeface="Calibri"/>
                <a:cs typeface="Calibri"/>
                <a:sym typeface="Calibri"/>
              </a:rPr>
              <a:t>Híbrido (α = 0,3): Precision@5 2,3× e Recall@5 2,7× maiores que o baseline de popularidade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9E"/>
          </a:solidFill>
          <a:ln cap="flat" cmpd="sng" w="12700">
            <a:solidFill>
              <a:srgbClr val="2F5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Metodologia aplicada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luxograma_slide.png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151" y="868680"/>
            <a:ext cx="714969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5D9E"/>
          </a:solidFill>
          <a:ln cap="flat" cmpd="sng" w="12700">
            <a:solidFill>
              <a:srgbClr val="2F5D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Limitações e próximos passos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D9E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F5D9E"/>
                </a:solidFill>
                <a:latin typeface="Calibri"/>
                <a:ea typeface="Calibri"/>
                <a:cs typeface="Calibri"/>
                <a:sym typeface="Calibri"/>
              </a:rPr>
              <a:t>Limitações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α escolhido no próprio conjunto de teste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teste de significância entre os modelos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ID de usuário: nomes iguais podem se misturar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2F5D9E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F5D9E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Escolher α em validação separada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Testar n-gramas no TF-IDF e mais vizinhos no KNN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Incluir NDCG e K = 10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Levar o modelo ajustado ao site Próximo Curso, para a comunidade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2026-10-14T18:40:28Z</dcterms:created>
  <dc:creator>PptxGenJS</dc:creator>
</cp:coreProperties>
</file>